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53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3849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011680" cy="201168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02920"/>
            <a:ext cx="2560320" cy="347472"/>
          </a:xfrm>
          <a:prstGeom prst="roundRect">
            <a:avLst>
              <a:gd name="adj" fmla="val 26316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754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14B8A6"/>
                </a:solidFill>
              </a:rPr>
              <a:t>EXCEL PROJECT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Market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Tracker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02920" y="245059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Return Analyzer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02920" y="324612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Excel solution for tracking investments, analyzing returns, and cleaning raw stock data.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4251960"/>
            <a:ext cx="310896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2" name="Text 10"/>
          <p:cNvSpPr/>
          <p:nvPr/>
        </p:nvSpPr>
        <p:spPr>
          <a:xfrm>
            <a:off x="502920" y="42519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👤  Sarthak Mukherjee  &amp;  Surojit Jana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40880" y="1097280"/>
            <a:ext cx="1051560" cy="1005840"/>
          </a:xfrm>
          <a:prstGeom prst="rect">
            <a:avLst/>
          </a:prstGeom>
          <a:solidFill>
            <a:srgbClr val="13233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40880" y="11704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</a:rPr>
              <a:t>CRUD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040880" y="16459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Operations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275320" y="1097280"/>
            <a:ext cx="1051560" cy="1005840"/>
          </a:xfrm>
          <a:prstGeom prst="rect">
            <a:avLst/>
          </a:prstGeom>
          <a:solidFill>
            <a:srgbClr val="13233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75320" y="11704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</a:rPr>
              <a:t>VBA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75320" y="16459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Macros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040880" y="2468880"/>
            <a:ext cx="1051560" cy="1005840"/>
          </a:xfrm>
          <a:prstGeom prst="rect">
            <a:avLst/>
          </a:prstGeom>
          <a:solidFill>
            <a:srgbClr val="13233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040880" y="25420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040880" y="30175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Data Sheets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275320" y="2468880"/>
            <a:ext cx="1051560" cy="1005840"/>
          </a:xfrm>
          <a:prstGeom prst="rect">
            <a:avLst/>
          </a:prstGeom>
          <a:solidFill>
            <a:srgbClr val="13233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75320" y="25420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</a:rPr>
              <a:t>100%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275320" y="30175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No DB Needed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fully-featured Excel workbook for Indian stock market investors to track portfolios, calculate returns, and manage raw data — powered by VBA macros.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73736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737360"/>
            <a:ext cx="73152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8105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1828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Portfolio Tracking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2860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Log every trade with broker, stock, sector, quantity and buy price in a structured table.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73736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737360"/>
            <a:ext cx="73152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8105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40680" y="1828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Return Analysis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22860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Calculate P&amp;L, percentage returns and total portfolio value automatically.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15468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154680"/>
            <a:ext cx="73152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2278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🧹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05840" y="3246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Data Cleaning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" y="37033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Remove duplicates, delete blank rows, and standardise data using VBA macros.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9160" y="315468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3154680"/>
            <a:ext cx="73152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2278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440680" y="3246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Search &amp; Filter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37033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Filter stocks by broker, sector, portfolio type and date using Excel slicers.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Key Features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1691640"/>
          </a:xfrm>
          <a:prstGeom prst="rect">
            <a:avLst/>
          </a:prstGeom>
          <a:solidFill>
            <a:srgbClr val="13233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38912" y="11430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➕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38912" y="162763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Add Stocks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9659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Enter new trades with all details — date, stock, sector, broker, price, quantity.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18688" y="1005840"/>
            <a:ext cx="2743200" cy="1691640"/>
          </a:xfrm>
          <a:prstGeom prst="rect">
            <a:avLst/>
          </a:prstGeom>
          <a:solidFill>
            <a:srgbClr val="13233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11430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👁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383280" y="162763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View Portfolio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19659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See your entire portfolio in a clean formatted table with colour-coded priorities.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63056" y="1005840"/>
            <a:ext cx="2743200" cy="1691640"/>
          </a:xfrm>
          <a:prstGeom prst="rect">
            <a:avLst/>
          </a:prstGeom>
          <a:solidFill>
            <a:srgbClr val="13233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27648" y="11430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✏️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327648" y="162763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Edit Records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27648" y="19659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Update existing entries for price changes, quantity adjustments, or corrections.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926080"/>
            <a:ext cx="2743200" cy="1691640"/>
          </a:xfrm>
          <a:prstGeom prst="rect">
            <a:avLst/>
          </a:prstGeom>
          <a:solidFill>
            <a:srgbClr val="13233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38912" y="30632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🗑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38912" y="354787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Delete Entries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8912" y="38862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Remove unwanted or outdated trades with a single click using VBA.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18688" y="2926080"/>
            <a:ext cx="2743200" cy="1691640"/>
          </a:xfrm>
          <a:prstGeom prst="rect">
            <a:avLst/>
          </a:prstGeom>
          <a:solidFill>
            <a:srgbClr val="13233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383280" y="30632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🔎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383280" y="354787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Search &amp; Filter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83280" y="38862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Find stocks by name, broker, sector or portfolio type instantly.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63056" y="2926080"/>
            <a:ext cx="2743200" cy="1691640"/>
          </a:xfrm>
          <a:prstGeom prst="rect">
            <a:avLst/>
          </a:prstGeom>
          <a:solidFill>
            <a:srgbClr val="13233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27648" y="30632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327648" y="354787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P&amp;L Calculation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27648" y="38862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Auto-calculate profit/loss per stock and total portfolio return in percentage.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Data Cleaning — Screenshots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41148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058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</a:rPr>
              <a:t>Remove Duplicates — Result Dialog</a:t>
            </a:r>
            <a:endParaRPr lang="en-US" sz="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325880"/>
            <a:ext cx="3931920" cy="23774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28600" y="4133088"/>
            <a:ext cx="4114800" cy="347472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" y="413308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</a:rPr>
              <a:t>3 duplicates found &amp; removed · 125 unique values remain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709160" y="960120"/>
            <a:ext cx="42062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800600" y="10058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</a:rPr>
              <a:t>Raw Dataset — After Blank Row Deletion</a:t>
            </a:r>
            <a:endParaRPr lang="en-US" sz="9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00600" y="1325880"/>
            <a:ext cx="4023360" cy="23774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709160" y="4133088"/>
            <a:ext cx="4206240" cy="347472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709160" y="41330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</a:rPr>
              <a:t>Data tab → Remove Duplicates · Blank rows auto-deleted via VBA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Data Cleaning — Steps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8686800" cy="822960"/>
          </a:xfrm>
          <a:prstGeom prst="rect">
            <a:avLst/>
          </a:prstGeom>
          <a:solidFill>
            <a:srgbClr val="13233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73152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97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24128" y="10789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Remove Duplicates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4128" y="1426464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Used Excel's built-in Remove Duplicates tool under the Data tab. Detected 3 duplicate rows across 128 entries, leaving 125 unique records.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8600" y="1965960"/>
            <a:ext cx="8686800" cy="822960"/>
          </a:xfrm>
          <a:prstGeom prst="rect">
            <a:avLst/>
          </a:prstGeom>
          <a:solidFill>
            <a:srgbClr val="13233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965960"/>
            <a:ext cx="73152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057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24128" y="20391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Delete Blank Rows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2386584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VBA macro scanned all rows from the bottom up and deleted any row where column A (Date) was empty, keeping data contiguous.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926080"/>
            <a:ext cx="8686800" cy="822960"/>
          </a:xfrm>
          <a:prstGeom prst="rect">
            <a:avLst/>
          </a:prstGeom>
          <a:solidFill>
            <a:srgbClr val="13233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2926080"/>
            <a:ext cx="73152" cy="8229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017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C55E"/>
                </a:solidFill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24128" y="29992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Standardise Columns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24128" y="3346704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Fixed column header typo: 'Profit/Losaa' corrected to 'Profit/Loss'. Blank columns H removed. Data types verified for Date and numeric fields.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8600" y="3886200"/>
            <a:ext cx="8686800" cy="822960"/>
          </a:xfrm>
          <a:prstGeom prst="rect">
            <a:avLst/>
          </a:prstGeom>
          <a:solidFill>
            <a:srgbClr val="13233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3886200"/>
            <a:ext cx="73152" cy="822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977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78BFA"/>
                </a:solidFill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24128" y="395935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Validate Data Types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24128" y="4306824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Buy_Price and Current_Price columns formatted as Number (2 decimal places). Date column formatted as DD-MMM-YYYY for consistency.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Project Structure — Excel Sheets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85953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87552"/>
            <a:ext cx="73152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078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6112" y="104241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raw_stock_portfolio_dataset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96112" y="13533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Main data table — all raw trade records (128 rows × 10 columns)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792224"/>
            <a:ext cx="85953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792224"/>
            <a:ext cx="73152" cy="6766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18836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96112" y="184708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Portfolio Summary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96112" y="21579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Aggregated view — total investment, current value, overall P&amp;L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596896"/>
            <a:ext cx="85953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596896"/>
            <a:ext cx="73152" cy="67665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26883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📄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96112" y="265176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Return Analyzer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96112" y="29626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Per-stock return % and profit/loss calculated from buy vs current price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401568"/>
            <a:ext cx="85953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401568"/>
            <a:ext cx="73152" cy="6766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2336" y="3493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📄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96112" y="345643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VBA Macros Sheet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96112" y="37673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Hosts all macro buttons: clean data, delete blanks, remove duplicates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4206240"/>
            <a:ext cx="85953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4206240"/>
            <a:ext cx="73152" cy="67665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" y="4297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📄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96112" y="426110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Charts Dashboard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96112" y="457200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Visual charts — sector allocation pie, broker split, P&amp;L bar chart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CRUD Operations via VBA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987552"/>
            <a:ext cx="8686800" cy="868680"/>
          </a:xfrm>
          <a:prstGeom prst="rect">
            <a:avLst/>
          </a:prstGeom>
          <a:solidFill>
            <a:srgbClr val="13233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87552"/>
            <a:ext cx="73152" cy="8686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143000"/>
            <a:ext cx="914400" cy="384048"/>
          </a:xfrm>
          <a:prstGeom prst="rect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1430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</a:rPr>
              <a:t>CREATE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17320" y="107899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➕  /add (macro button)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17320" y="146304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Fill form → click Add → new row appended to dataset table automatically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1993392"/>
            <a:ext cx="8686800" cy="868680"/>
          </a:xfrm>
          <a:prstGeom prst="rect">
            <a:avLst/>
          </a:prstGeom>
          <a:solidFill>
            <a:srgbClr val="13233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" y="1993392"/>
            <a:ext cx="73152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" y="2148840"/>
            <a:ext cx="914400" cy="384048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1488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</a:rPr>
              <a:t>READ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17320" y="208483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👁  / (portfolio view)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17320" y="24688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Home sheet displays all records with auto-formatting and colour coding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2999232"/>
            <a:ext cx="8686800" cy="868680"/>
          </a:xfrm>
          <a:prstGeom prst="rect">
            <a:avLst/>
          </a:prstGeom>
          <a:solidFill>
            <a:srgbClr val="13233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999232"/>
            <a:ext cx="73152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" y="3154680"/>
            <a:ext cx="914400" cy="384048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1546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UPDATE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417320" y="309067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✏️  /edit (select row + edit)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17320" y="34747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Select any row → modify cell values → VBA validates and saves changes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4005072"/>
            <a:ext cx="8686800" cy="868680"/>
          </a:xfrm>
          <a:prstGeom prst="rect">
            <a:avLst/>
          </a:prstGeom>
          <a:solidFill>
            <a:srgbClr val="13233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4005072"/>
            <a:ext cx="73152" cy="868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048" y="4160520"/>
            <a:ext cx="914400" cy="384048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4160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</a:rPr>
              <a:t>DELETE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417320" y="409651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🗑  /delete (macro button)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417320" y="448056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Select row → click Delete button → row removed and IDs re-sequenced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Dataset Columns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969264"/>
            <a:ext cx="256032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926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Column Name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88920" y="969264"/>
            <a:ext cx="301752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96926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Description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806440" y="969264"/>
            <a:ext cx="192024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0" y="96926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Data Type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726680" y="969264"/>
            <a:ext cx="73152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0" y="96926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Color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" y="1316736"/>
            <a:ext cx="25603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131673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Date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88920" y="1316736"/>
            <a:ext cx="30175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52928" y="131673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Trade entry date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806440" y="1316736"/>
            <a:ext cx="1920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70448" y="13167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DD-MMM-YYYY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726680" y="1316736"/>
            <a:ext cx="73152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1719072"/>
            <a:ext cx="256032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" y="17190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Stock_Name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88920" y="1719072"/>
            <a:ext cx="301752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52928" y="17190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Company name / ticker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806440" y="1719072"/>
            <a:ext cx="192024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70448" y="17190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Text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726680" y="1719072"/>
            <a:ext cx="73152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8600" y="2121408"/>
            <a:ext cx="25603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608" y="21214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Sector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88920" y="2121408"/>
            <a:ext cx="30175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52928" y="21214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Industry sector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806440" y="2121408"/>
            <a:ext cx="1920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70448" y="21214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Text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726680" y="2121408"/>
            <a:ext cx="73152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8600" y="2523744"/>
            <a:ext cx="256032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2608" y="252374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Buy_Price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88920" y="2523744"/>
            <a:ext cx="301752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852928" y="252374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Purchase price per share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806440" y="2523744"/>
            <a:ext cx="192024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70448" y="252374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Number (₹)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726680" y="2523744"/>
            <a:ext cx="731520" cy="365760"/>
          </a:xfrm>
          <a:prstGeom prst="rect">
            <a:avLst/>
          </a:prstGeom>
          <a:solidFill>
            <a:srgbClr val="22C55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8600" y="2926080"/>
            <a:ext cx="25603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2608" y="2926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Current_Price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788920" y="2926080"/>
            <a:ext cx="30175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852928" y="2926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Today's market price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806440" y="2926080"/>
            <a:ext cx="1920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70448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Number (₹)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726680" y="2926080"/>
            <a:ext cx="731520" cy="365760"/>
          </a:xfrm>
          <a:prstGeom prst="rect">
            <a:avLst/>
          </a:prstGeom>
          <a:solidFill>
            <a:srgbClr val="22C55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28600" y="3328416"/>
            <a:ext cx="256032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2608" y="33284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Quantity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788920" y="3328416"/>
            <a:ext cx="301752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852928" y="332841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Number of shares held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806440" y="3328416"/>
            <a:ext cx="192024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870448" y="33284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Integer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726680" y="3328416"/>
            <a:ext cx="73152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28600" y="3730752"/>
            <a:ext cx="25603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92608" y="37307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Profit/Loss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788920" y="3730752"/>
            <a:ext cx="30175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852928" y="37307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Calculated gain/loss (₹)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806440" y="3730752"/>
            <a:ext cx="1920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870448" y="37307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Formula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726680" y="3730752"/>
            <a:ext cx="73152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28600" y="4133088"/>
            <a:ext cx="256032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92608" y="41330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Broker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2788920" y="4133088"/>
            <a:ext cx="301752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852928" y="41330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Trading platform used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5806440" y="4133088"/>
            <a:ext cx="192024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870448" y="41330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Text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726680" y="4133088"/>
            <a:ext cx="731520" cy="365760"/>
          </a:xfrm>
          <a:prstGeom prst="rect">
            <a:avLst/>
          </a:prstGeom>
          <a:solidFill>
            <a:srgbClr val="A78B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28600" y="4535424"/>
            <a:ext cx="25603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92608" y="453542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Portfolio_Type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2788920" y="4535424"/>
            <a:ext cx="30175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852928" y="453542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Trade style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5806440" y="4535424"/>
            <a:ext cx="1920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870448" y="45354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Swing/Intraday/Long Term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7726680" y="4535424"/>
            <a:ext cx="73152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Tools &amp; Technologies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2743200" cy="1737360"/>
          </a:xfrm>
          <a:prstGeom prst="rect">
            <a:avLst/>
          </a:prstGeom>
          <a:solidFill>
            <a:srgbClr val="13233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38912" y="10972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38912" y="16002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Microsoft Excel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95681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</a:rPr>
              <a:t>2016/365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38912" y="223113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Primary platform for data entry, tables, and charts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18688" y="987552"/>
            <a:ext cx="2743200" cy="1737360"/>
          </a:xfrm>
          <a:prstGeom prst="rect">
            <a:avLst/>
          </a:prstGeom>
          <a:solidFill>
            <a:srgbClr val="13233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10972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83280" y="16002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VBA (Macros)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195681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</a:rPr>
              <a:t>Excel VBA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383280" y="223113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Automates data cleaning, CRUD operations and formatting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63056" y="987552"/>
            <a:ext cx="2743200" cy="1737360"/>
          </a:xfrm>
          <a:prstGeom prst="rect">
            <a:avLst/>
          </a:prstGeom>
          <a:solidFill>
            <a:srgbClr val="13233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27648" y="10972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🧮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27648" y="16002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Excel Formulas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27648" y="195681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</a:rPr>
              <a:t>Advanced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327648" y="223113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VLOOKUP, IF, SUMIF, conditional formatting used throughout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2953512"/>
            <a:ext cx="2743200" cy="1737360"/>
          </a:xfrm>
          <a:prstGeom prst="rect">
            <a:avLst/>
          </a:prstGeom>
          <a:solidFill>
            <a:srgbClr val="13233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38912" y="30632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38912" y="35661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Excel Charts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8912" y="392277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</a:rPr>
              <a:t>Native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38912" y="419709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Bar, pie and line charts for portfolio visualisation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18688" y="2953512"/>
            <a:ext cx="2743200" cy="1737360"/>
          </a:xfrm>
          <a:prstGeom prst="rect">
            <a:avLst/>
          </a:prstGeom>
          <a:solidFill>
            <a:srgbClr val="13233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383280" y="30632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🔢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383280" y="35661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Power Query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83280" y="392277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</a:rPr>
              <a:t>Get &amp; Transform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383280" y="419709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Used for connecting and refreshing external data sources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163056" y="2953512"/>
            <a:ext cx="2743200" cy="1737360"/>
          </a:xfrm>
          <a:prstGeom prst="rect">
            <a:avLst/>
          </a:prstGeom>
          <a:solidFill>
            <a:srgbClr val="13233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327648" y="30632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🗃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327648" y="35661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Data Tables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27648" y="392277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</a:rPr>
              <a:t>Structured Ref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327648" y="419709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Excel tables (ListObjects) for structured data referencing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00400" y="4114800"/>
            <a:ext cx="4114800" cy="41148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Learnings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2487168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</a:rPr>
              <a:t>✅  Built a complete CRUD-enabled stock portfolio tracker in Excel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962656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</a:rPr>
              <a:t>✅  Automated data cleaning with VBA: duplicates removed, blanks deleted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43814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✅  Analysed 125 unique trade records across multiple brokers and sectors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913632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✅  Created dynamic return analysis with profit/loss calculations per stock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389120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✅  Designed a clean, professional dashboard using Excel charts &amp; slicers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39040" y="4727448"/>
            <a:ext cx="3108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00240" y="4791456"/>
            <a:ext cx="29865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👤  Sarthak Mukherjee  &amp;  Surojit Jana  |  Excel  Project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836</Words>
  <Application>Microsoft Office PowerPoint</Application>
  <PresentationFormat>On-screen Show (16:9)</PresentationFormat>
  <Paragraphs>169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 Market Portfolio Tracker</dc:title>
  <dc:subject>PptxGenJS Presentation</dc:subject>
  <dc:creator>Sarthak &amp; Surojit</dc:creator>
  <cp:lastModifiedBy>Sarthak Mukherjee</cp:lastModifiedBy>
  <cp:revision>2</cp:revision>
  <dcterms:created xsi:type="dcterms:W3CDTF">2026-05-20T04:22:34Z</dcterms:created>
  <dcterms:modified xsi:type="dcterms:W3CDTF">2026-05-20T04:25:53Z</dcterms:modified>
</cp:coreProperties>
</file>