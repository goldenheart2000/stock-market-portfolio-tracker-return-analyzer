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udip\Downloads\Sarthak%20&amp;%20Surojit_Stock%20Market%20Portfolio%20Tracker%20&amp;%20Return%20Analyzer_Project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[Sarthak &amp; Surojit_Stock Market Portfolio Tracker &amp; Return Analyzer_Project.xlsm]Portfolio Analysis!PivotTable4</c:name>
    <c:fmtId val="10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</c:pivotFmt>
      <c:pivotFmt>
        <c:idx val="10"/>
      </c:pivotFmt>
      <c:pivotFmt>
        <c:idx val="11"/>
      </c:pivotFmt>
      <c:pivotFmt>
        <c:idx val="12"/>
      </c:pivotFmt>
      <c:pivotFmt>
        <c:idx val="13"/>
      </c:pivotFmt>
      <c:pivotFmt>
        <c:idx val="14"/>
      </c:pivotFmt>
      <c:pivotFmt>
        <c:idx val="15"/>
      </c:pivotFmt>
      <c:pivotFmt>
        <c:idx val="16"/>
      </c:pivotFmt>
      <c:pivotFmt>
        <c:idx val="17"/>
      </c:pivotFmt>
      <c:pivotFmt>
        <c:idx val="18"/>
      </c:pivotFmt>
      <c:pivotFmt>
        <c:idx val="19"/>
      </c:pivotFmt>
      <c:pivotFmt>
        <c:idx val="20"/>
      </c:pivotFmt>
      <c:pivotFmt>
        <c:idx val="21"/>
      </c:pivotFmt>
      <c:pivotFmt>
        <c:idx val="22"/>
      </c:pivotFmt>
      <c:pivotFmt>
        <c:idx val="23"/>
      </c:pivotFmt>
      <c:pivotFmt>
        <c:idx val="24"/>
      </c:pivotFmt>
      <c:pivotFmt>
        <c:idx val="25"/>
      </c:pivotFmt>
      <c:pivotFmt>
        <c:idx val="26"/>
      </c:pivotFmt>
      <c:pivotFmt>
        <c:idx val="2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14800474958321075"/>
          <c:y val="0.15165904112333306"/>
          <c:w val="0.56597014031449489"/>
          <c:h val="0.79254960449914791"/>
        </c:manualLayout>
      </c:layout>
      <c:pieChart>
        <c:varyColors val="1"/>
        <c:ser>
          <c:idx val="0"/>
          <c:order val="0"/>
          <c:tx>
            <c:strRef>
              <c:f>'Portfolio Analysis'!$B$3</c:f>
              <c:strCache>
                <c:ptCount val="1"/>
                <c:pt idx="0">
                  <c:v>Total</c:v>
                </c:pt>
              </c:strCache>
            </c:strRef>
          </c:tx>
          <c:explosion val="12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E59-488C-98D3-923164BD9CE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E59-488C-98D3-923164BD9CE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E59-488C-98D3-923164BD9CE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E59-488C-98D3-923164BD9CE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4E59-488C-98D3-923164BD9CE5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4E59-488C-98D3-923164BD9CE5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4E59-488C-98D3-923164BD9CE5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4E59-488C-98D3-923164BD9CE5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4E59-488C-98D3-923164BD9CE5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4E59-488C-98D3-923164BD9CE5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5-4E59-488C-98D3-923164BD9CE5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7-4E59-488C-98D3-923164BD9CE5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9-4E59-488C-98D3-923164BD9CE5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B-4E59-488C-98D3-923164BD9CE5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D-4E59-488C-98D3-923164BD9CE5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F-4E59-488C-98D3-923164BD9CE5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1-4E59-488C-98D3-923164BD9CE5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3-4E59-488C-98D3-923164BD9CE5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5-4E59-488C-98D3-923164BD9CE5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7-4E59-488C-98D3-923164BD9CE5}"/>
              </c:ext>
            </c:extLst>
          </c:dPt>
          <c:dPt>
            <c:idx val="20"/>
            <c:bubble3D val="0"/>
            <c:spPr>
              <a:solidFill>
                <a:schemeClr val="accent3">
                  <a:lumMod val="8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9-4E59-488C-98D3-923164BD9CE5}"/>
              </c:ext>
            </c:extLst>
          </c:dPt>
          <c:dPt>
            <c:idx val="21"/>
            <c:bubble3D val="0"/>
            <c:spPr>
              <a:solidFill>
                <a:schemeClr val="accent4">
                  <a:lumMod val="8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B-4E59-488C-98D3-923164BD9CE5}"/>
              </c:ext>
            </c:extLst>
          </c:dPt>
          <c:dPt>
            <c:idx val="22"/>
            <c:bubble3D val="0"/>
            <c:spPr>
              <a:solidFill>
                <a:schemeClr val="accent5">
                  <a:lumMod val="8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D-4E59-488C-98D3-923164BD9CE5}"/>
              </c:ext>
            </c:extLst>
          </c:dPt>
          <c:dPt>
            <c:idx val="23"/>
            <c:bubble3D val="0"/>
            <c:spPr>
              <a:solidFill>
                <a:schemeClr val="accent6">
                  <a:lumMod val="8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F-4E59-488C-98D3-923164BD9CE5}"/>
              </c:ext>
            </c:extLst>
          </c:dPt>
          <c:dPt>
            <c:idx val="24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31-4E59-488C-98D3-923164BD9CE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'Portfolio Analysis'!$A$4:$A$29</c:f>
              <c:strCache>
                <c:ptCount val="25"/>
                <c:pt idx="0">
                  <c:v>ADANIENT</c:v>
                </c:pt>
                <c:pt idx="1">
                  <c:v>ASIANPAINT</c:v>
                </c:pt>
                <c:pt idx="2">
                  <c:v>AXISBANK</c:v>
                </c:pt>
                <c:pt idx="3">
                  <c:v>BAJFINANCE</c:v>
                </c:pt>
                <c:pt idx="4">
                  <c:v>BHARTIARTL</c:v>
                </c:pt>
                <c:pt idx="5">
                  <c:v>CIPLA</c:v>
                </c:pt>
                <c:pt idx="6">
                  <c:v>COALINDIA</c:v>
                </c:pt>
                <c:pt idx="7">
                  <c:v>HCLTECH</c:v>
                </c:pt>
                <c:pt idx="8">
                  <c:v>HDFCBANK</c:v>
                </c:pt>
                <c:pt idx="9">
                  <c:v>ICICIBANK</c:v>
                </c:pt>
                <c:pt idx="10">
                  <c:v>INFY</c:v>
                </c:pt>
                <c:pt idx="11">
                  <c:v>ITC</c:v>
                </c:pt>
                <c:pt idx="12">
                  <c:v>LT</c:v>
                </c:pt>
                <c:pt idx="13">
                  <c:v>MARUTI</c:v>
                </c:pt>
                <c:pt idx="14">
                  <c:v>NESTLEIND</c:v>
                </c:pt>
                <c:pt idx="15">
                  <c:v>NTPC</c:v>
                </c:pt>
                <c:pt idx="16">
                  <c:v>POWERGRID</c:v>
                </c:pt>
                <c:pt idx="17">
                  <c:v>RELIANCE</c:v>
                </c:pt>
                <c:pt idx="18">
                  <c:v>SBIN</c:v>
                </c:pt>
                <c:pt idx="19">
                  <c:v>SUNPHARMA</c:v>
                </c:pt>
                <c:pt idx="20">
                  <c:v>TCS</c:v>
                </c:pt>
                <c:pt idx="21">
                  <c:v>TECHM</c:v>
                </c:pt>
                <c:pt idx="22">
                  <c:v>TITAN</c:v>
                </c:pt>
                <c:pt idx="23">
                  <c:v>ULTRACEMCO</c:v>
                </c:pt>
                <c:pt idx="24">
                  <c:v>WIPRO</c:v>
                </c:pt>
              </c:strCache>
            </c:strRef>
          </c:cat>
          <c:val>
            <c:numRef>
              <c:f>'Portfolio Analysis'!$B$4:$B$29</c:f>
              <c:numCache>
                <c:formatCode>General</c:formatCode>
                <c:ptCount val="25"/>
                <c:pt idx="0">
                  <c:v>231438.78</c:v>
                </c:pt>
                <c:pt idx="1">
                  <c:v>4209112.05</c:v>
                </c:pt>
                <c:pt idx="2">
                  <c:v>3191274.64</c:v>
                </c:pt>
                <c:pt idx="3">
                  <c:v>3761244.73</c:v>
                </c:pt>
                <c:pt idx="4">
                  <c:v>2495429.15</c:v>
                </c:pt>
                <c:pt idx="5">
                  <c:v>3202371.48</c:v>
                </c:pt>
                <c:pt idx="6">
                  <c:v>2206494.3000000003</c:v>
                </c:pt>
                <c:pt idx="7">
                  <c:v>1943586.77</c:v>
                </c:pt>
                <c:pt idx="8">
                  <c:v>2529032.0499999998</c:v>
                </c:pt>
                <c:pt idx="9">
                  <c:v>670679.23</c:v>
                </c:pt>
                <c:pt idx="10">
                  <c:v>2718747.5999999996</c:v>
                </c:pt>
                <c:pt idx="11">
                  <c:v>3204614.98</c:v>
                </c:pt>
                <c:pt idx="12">
                  <c:v>2516641.12</c:v>
                </c:pt>
                <c:pt idx="13">
                  <c:v>3620356.9299999997</c:v>
                </c:pt>
                <c:pt idx="14">
                  <c:v>1403378.1400000001</c:v>
                </c:pt>
                <c:pt idx="15">
                  <c:v>5248171.03</c:v>
                </c:pt>
                <c:pt idx="16">
                  <c:v>5135027.6500000004</c:v>
                </c:pt>
                <c:pt idx="17">
                  <c:v>238835.6</c:v>
                </c:pt>
                <c:pt idx="18">
                  <c:v>4629419.9400000004</c:v>
                </c:pt>
                <c:pt idx="19">
                  <c:v>614451.48</c:v>
                </c:pt>
                <c:pt idx="20">
                  <c:v>4784667.3900000006</c:v>
                </c:pt>
                <c:pt idx="21">
                  <c:v>1847214.52</c:v>
                </c:pt>
                <c:pt idx="22">
                  <c:v>2650490.9799999995</c:v>
                </c:pt>
                <c:pt idx="23">
                  <c:v>2989483.34</c:v>
                </c:pt>
                <c:pt idx="24">
                  <c:v>2204316.0300000003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2-4E59-488C-98D3-923164BD9CE5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849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4B8A6"/>
                </a:solidFill>
              </a:rPr>
              <a:t>EXCEL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Tracker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Return Analyzer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Excel solution for tracking investments, analyzing returns, and cleaning raw stock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" y="4206240"/>
            <a:ext cx="31089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-82632" y="4206240"/>
            <a:ext cx="355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👤  Sarthak Mukherjee  &amp;  Surojit Jana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097280"/>
            <a:ext cx="1051560" cy="10058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040880" y="11704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CRUD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0880" y="1645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Operations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75320" y="1097280"/>
            <a:ext cx="1051560" cy="10058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75320" y="11704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VBA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75320" y="1645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Macros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040880" y="2468880"/>
            <a:ext cx="1051560" cy="10058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040880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30175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Data Sheets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75320" y="2468880"/>
            <a:ext cx="1051560" cy="10058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75320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100%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75320" y="30175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No DB Needed</a:t>
            </a:r>
            <a:endParaRPr lang="en-US" sz="8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71DA0E6-2C3F-58E1-FF87-6422AFF11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041" y="103821"/>
            <a:ext cx="1067199" cy="8695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fully-featured Excel workbook for Indian stock market investors to track portfolios, calculate returns, and manage raw data — powered by VBA macros.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Portfolio Tracking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Log every trade with broker, stock, sector, quantity and buy price in a structured table.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7373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7373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6320" y="18105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4068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Return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Calculate P&amp;L, percentage returns and total portfolio value automatically.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3227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 Cleaning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703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Remove duplicates, delete blank rows, and standardise data using VBA macros.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46320" y="3227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4068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Search &amp; Filter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703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Filter stocks by broker, sector, portfolio type and date using Excel slicers.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38912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16276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Add Stocks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9659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Enter new trades with all details — date, stock, sector, broker, price, quantity.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1005840"/>
            <a:ext cx="274320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83280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16276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View Portfolio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See your entire portfolio in a clean formatted table with colour-coded priorities.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005840"/>
            <a:ext cx="274320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27648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27648" y="16276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Edit Records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7648" y="19659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Update existing entries for price changes, quantity adjustments, or corrections.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38912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8912" y="35478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Delete Entries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886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Remove unwanted or outdated trades with a single click using VBA.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18688" y="2926080"/>
            <a:ext cx="274320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383280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🔎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83280" y="35478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Search &amp; Filter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886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Find stocks by name, broker, sector or portfolio type instantly.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63056" y="2926080"/>
            <a:ext cx="274320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27648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27648" y="35478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P&amp;L Calculation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3886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Auto-calculate profit/loss per stock and total portfolio return in percentage.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Cleaning — Screenshots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Remove Duplicates — Result Dialog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325880"/>
            <a:ext cx="393192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" y="4133088"/>
            <a:ext cx="4114800" cy="34747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28600" y="41330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3 duplicates found &amp; removed · 125 unique values remain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206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80060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Raw Dataset — After Blank Row Deletion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1325880"/>
            <a:ext cx="4023360" cy="23774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09160" y="4133088"/>
            <a:ext cx="420624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4709160" y="41330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Data tab → Remove Duplicates · Blank rows auto-deleted via VBA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Cleaning —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8229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7315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0789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Remove Duplicates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42646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Used Excel's built-in Remove Duplicates tool under the Data tab. Detected 3 duplicate rows across 128 entries, leaving 125 unique records.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965960"/>
            <a:ext cx="8686800" cy="8229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28600" y="196596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84048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" y="20391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Delete Blank Rows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238658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VBA macro scanned all rows from the bottom up and deleted any row where column A (Date) was empty, keeping data contiguous.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926080"/>
            <a:ext cx="8686800" cy="8229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" y="2926080"/>
            <a:ext cx="73152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4048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4128" y="2999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Standardise Columns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334670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Fixed column header typo: 'Profit/Losaa' corrected to 'Profit/Loss'. Blank columns H removed. Data types verified for Date and numeric fields.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886200"/>
            <a:ext cx="8686800" cy="8229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28600" y="3886200"/>
            <a:ext cx="73152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84048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4128" y="39593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 Data Types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430682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Buy_Price and Current_Price columns formatted as Number (2 decimal places). Date column formatted as DD-MMM-YYYY for consistency.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Structure — Excel Sheets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02336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10424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raw_stock_portfolio_dataset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1353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Main data table — all raw trade records (128 rows × 10 columns)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92224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1792224"/>
            <a:ext cx="73152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02336" y="1883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6112" y="18470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Portfolio Summary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21579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Aggregated view — total investment, current value, overall P&amp;L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73152" cy="6766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02336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26517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Return Analyzer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6112" y="29626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Per-stock return % and profit/loss calculated from buy vs current price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401568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73152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02336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112" y="34564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Macros Sheet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96112" y="37673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Hosts all macro buttons: clean data, delete blanks, remove duplicates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206240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4206240"/>
            <a:ext cx="73152" cy="6766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02336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6112" y="42611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Charts Dashboard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96112" y="45720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Visual charts — sector allocation pie, broker split, P&amp;L bar chart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CRUD Operations via VBA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8686800" cy="8686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73152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84048" y="1143000"/>
            <a:ext cx="914400" cy="384048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143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CREATE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0789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➕  /add (macro button)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4630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Fill form → click Add → new row appended to dataset table automatically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993392"/>
            <a:ext cx="8686800" cy="8686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8600" y="1993392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84048" y="2148840"/>
            <a:ext cx="914400" cy="38404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4048" y="2148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READ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20848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👁  / (portfolio view)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4688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Home sheet displays all records with auto-formatting and colour coding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999232"/>
            <a:ext cx="8686800" cy="8686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28600" y="2999232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3154680"/>
            <a:ext cx="914400" cy="38404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84048" y="3154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UPDATE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30906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✏️  /edit (select row + edit)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3474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Select any row → modify cell values → VBA validates and saves changes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005072"/>
            <a:ext cx="8686800" cy="8686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28600" y="4005072"/>
            <a:ext cx="73152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84048" y="4160520"/>
            <a:ext cx="914400" cy="38404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84048" y="4160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DELETE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17320" y="40965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🗑  /delete (macro button)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17320" y="44805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Select row → click Delete button → row removed and IDs re-sequenced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Columns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9264"/>
            <a:ext cx="25603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969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Column Name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88920" y="969264"/>
            <a:ext cx="30175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834640" y="9692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Description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06440" y="969264"/>
            <a:ext cx="19202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852160" y="9692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Type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26680" y="969264"/>
            <a:ext cx="7315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0" y="96926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Color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1316736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92608" y="13167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88920" y="1316736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852928" y="13167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Trade entry date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1316736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870448" y="1316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DD-MMM-YYYY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26680" y="1316736"/>
            <a:ext cx="731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" y="1719072"/>
            <a:ext cx="25603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92608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Stock_Name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88920" y="1719072"/>
            <a:ext cx="30175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852928" y="1719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Company name / ticker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06440" y="1719072"/>
            <a:ext cx="19202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870448" y="1719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26680" y="1719072"/>
            <a:ext cx="7315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28600" y="2121408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92608" y="21214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Sector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88920" y="2121408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852928" y="2121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Industry sector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06440" y="2121408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870448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Text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26680" y="2121408"/>
            <a:ext cx="731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28600" y="2523744"/>
            <a:ext cx="25603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92608" y="25237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Buy_Price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88920" y="2523744"/>
            <a:ext cx="30175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852928" y="25237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Purchase price per share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06440" y="2523744"/>
            <a:ext cx="19202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870448" y="25237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Number (₹)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26680" y="2523744"/>
            <a:ext cx="73152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228600" y="2926080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92608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Current_Price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88920" y="2926080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852928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Today's market price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806440" y="292608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870448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Number (₹)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726680" y="2926080"/>
            <a:ext cx="73152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228600" y="3328416"/>
            <a:ext cx="25603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92608" y="3328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Quantity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88920" y="3328416"/>
            <a:ext cx="30175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852928" y="33284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Number of shares held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06440" y="3328416"/>
            <a:ext cx="19202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870448" y="33284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Integer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26680" y="3328416"/>
            <a:ext cx="7315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228600" y="3730752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292608" y="3730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Profit/Loss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88920" y="3730752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2852928" y="37307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Calculated gain/loss (₹)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06440" y="3730752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870448" y="3730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Formula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26680" y="3730752"/>
            <a:ext cx="731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228600" y="4133088"/>
            <a:ext cx="25603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292608" y="41330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Broker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88920" y="4133088"/>
            <a:ext cx="30175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2852928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Trading platform used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806440" y="4133088"/>
            <a:ext cx="19202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5870448" y="4133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Text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726680" y="4133088"/>
            <a:ext cx="731520" cy="365760"/>
          </a:xfrm>
          <a:prstGeom prst="rect">
            <a:avLst/>
          </a:prstGeom>
          <a:solidFill>
            <a:srgbClr val="A78B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228600" y="4535424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292608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Portfolio_Type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788920" y="4535424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2852928" y="45354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Trade style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806440" y="4535424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5870448" y="4535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Swing/Intraday/Long Term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726680" y="4535424"/>
            <a:ext cx="7315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Tools &amp; Technologies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743200" cy="1737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38912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1600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Microsoft Excel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9568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</a:rPr>
              <a:t>2016/365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22311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Primary platform for data entry, tables, and charts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18688" y="987552"/>
            <a:ext cx="2743200" cy="1737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83280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VBA (Macros)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9568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</a:rPr>
              <a:t>Excel VBA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83280" y="22311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Automates data cleaning, CRUD operations and formatting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63056" y="987552"/>
            <a:ext cx="2743200" cy="1737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27648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27648" y="1600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Excel Formulas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19568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</a:rPr>
              <a:t>Advanced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27648" y="22311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VLOOKUP, IF, SUMIF, conditional formatting used throughout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953512"/>
            <a:ext cx="2743200" cy="1737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38912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8912" y="3566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Excel Charts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39227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</a:rPr>
              <a:t>Native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8912" y="41970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Bar, pie and line charts for portfolio visualisation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18688" y="2953512"/>
            <a:ext cx="2743200" cy="1737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83280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83280" y="3566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Power Query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9227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</a:rPr>
              <a:t>Get &amp; Transform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83280" y="41970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Used for connecting and refreshing external data sources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63056" y="2953512"/>
            <a:ext cx="2743200" cy="1737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27648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🗃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27648" y="3566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Data Tables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27648" y="39227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</a:rPr>
              <a:t>Structured Ref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27648" y="41970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Excel tables (ListObjects) for structured data referencing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C1987B-172F-79EE-14D0-1E24153E3AA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VISUALIZATION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FC407C-83CB-F0D1-721A-E026D3F18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82" y="885581"/>
            <a:ext cx="3550487" cy="20405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A75D34-FDC4-16A7-4C38-4ED35AE14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232" y="822960"/>
            <a:ext cx="3256871" cy="1947649"/>
          </a:xfrm>
          <a:prstGeom prst="rect">
            <a:avLst/>
          </a:prstGeom>
        </p:spPr>
      </p:pic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B9887DF0-2ADF-4F0A-BC1D-D43927D6C1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8681487"/>
              </p:ext>
            </p:extLst>
          </p:nvPr>
        </p:nvGraphicFramePr>
        <p:xfrm>
          <a:off x="394282" y="3197729"/>
          <a:ext cx="3550487" cy="18768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3DA847B2-CF50-96A5-7E23-DD26976C23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9232" y="2895181"/>
            <a:ext cx="3256871" cy="2078231"/>
          </a:xfrm>
          <a:prstGeom prst="rect">
            <a:avLst/>
          </a:prstGeom>
        </p:spPr>
      </p:pic>
      <p:sp>
        <p:nvSpPr>
          <p:cNvPr id="14" name="Shape 1">
            <a:extLst>
              <a:ext uri="{FF2B5EF4-FFF2-40B4-BE49-F238E27FC236}">
                <a16:creationId xmlns:a16="http://schemas.microsoft.com/office/drawing/2014/main" id="{9ED50BE8-6A4B-9AE0-04EF-C4D0AB2517BD}"/>
              </a:ext>
            </a:extLst>
          </p:cNvPr>
          <p:cNvSpPr/>
          <p:nvPr/>
        </p:nvSpPr>
        <p:spPr>
          <a:xfrm>
            <a:off x="0" y="771535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5B3E11-5679-7CF4-C251-B950BB69DCB6}"/>
              </a:ext>
            </a:extLst>
          </p:cNvPr>
          <p:cNvCxnSpPr>
            <a:stCxn id="14" idx="2"/>
          </p:cNvCxnSpPr>
          <p:nvPr/>
        </p:nvCxnSpPr>
        <p:spPr>
          <a:xfrm>
            <a:off x="4572000" y="826399"/>
            <a:ext cx="0" cy="42482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777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411480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Learnings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✅  Built a complete CRUD-enabled stock portfolio tracker in Excel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6265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✅  Automated data cleaning with VBA: duplicates removed, blanks deleted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4381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Analysed 125 unique trade records across multiple brokers and sectors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91363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Created dynamic return analysis with profit/loss calculations per stock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Designed a clean, professional dashboard using Excel charts &amp; slicers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39040" y="4727448"/>
            <a:ext cx="3108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000240" y="4791456"/>
            <a:ext cx="2986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👤  Sarthak Mukherjee  &amp;  Surojit Jana  |  Excel  Project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837</Words>
  <Application>Microsoft Office PowerPoint</Application>
  <PresentationFormat>On-screen Show (16:9)</PresentationFormat>
  <Paragraphs>171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Market Portfolio Tracker</dc:title>
  <dc:subject>PptxGenJS Presentation</dc:subject>
  <dc:creator>Sarthak &amp; Surojit</dc:creator>
  <cp:lastModifiedBy>Anudip</cp:lastModifiedBy>
  <cp:revision>3</cp:revision>
  <dcterms:created xsi:type="dcterms:W3CDTF">2026-05-20T04:22:34Z</dcterms:created>
  <dcterms:modified xsi:type="dcterms:W3CDTF">2026-05-20T05:57:57Z</dcterms:modified>
</cp:coreProperties>
</file>